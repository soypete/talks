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5"/>
    <p:sldId id="261" r:id="rId16"/>
    <p:sldId id="262" r:id="rId17"/>
    <p:sldId id="263" r:id="rId18"/>
  </p:sldIdLst>
  <p:sldSz cy="5143500" cx="9144000"/>
  <p:notesSz cx="6858000" cy="9144000"/>
  <p:embeddedFontLst>
    <p:embeddedFont>
      <p:font typeface="Helvetica Neue Ligh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jF4oD3QwwDjcuQoCGprlpn80WZ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font" Target="fonts/HelveticaNeueLight-regular.fntdata"/><Relationship Id="rId11" Type="http://schemas.openxmlformats.org/officeDocument/2006/relationships/font" Target="fonts/HelveticaNeueLight-bold.fntdata"/><Relationship Id="rId12" Type="http://schemas.openxmlformats.org/officeDocument/2006/relationships/font" Target="fonts/HelveticaNeueLight-italic.fntdata"/><Relationship Id="rId13" Type="http://schemas.openxmlformats.org/officeDocument/2006/relationships/font" Target="fonts/HelveticaNeueLight-boldItalic.fntdata"/><Relationship Id="rId14" Type="http://customschemas.google.com/relationships/presentationmetadata" Target="metadata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56e7514af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g3f56e7514a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56e7514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g3f56e7514a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"/>
          <p:cNvSpPr txBox="1"/>
          <p:nvPr>
            <p:ph idx="1" type="body"/>
          </p:nvPr>
        </p:nvSpPr>
        <p:spPr>
          <a:xfrm>
            <a:off x="304706" y="2238865"/>
            <a:ext cx="5793079" cy="13213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77A2"/>
              </a:buClr>
              <a:buSzPts val="4800"/>
              <a:buNone/>
              <a:defRPr b="1" sz="4800">
                <a:solidFill>
                  <a:srgbClr val="0077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" name="Google Shape;10;p5"/>
          <p:cNvSpPr txBox="1"/>
          <p:nvPr>
            <p:ph idx="2" type="body"/>
          </p:nvPr>
        </p:nvSpPr>
        <p:spPr>
          <a:xfrm>
            <a:off x="304706" y="3629665"/>
            <a:ext cx="3026003" cy="403106"/>
          </a:xfrm>
          <a:prstGeom prst="rect">
            <a:avLst/>
          </a:prstGeom>
          <a:solidFill>
            <a:srgbClr val="1B1D2C"/>
          </a:solidFill>
          <a:ln>
            <a:noFill/>
          </a:ln>
        </p:spPr>
        <p:txBody>
          <a:bodyPr anchorCtr="0" anchor="t" bIns="45700" lIns="36000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" name="Google Shape;11;p5"/>
          <p:cNvSpPr txBox="1"/>
          <p:nvPr/>
        </p:nvSpPr>
        <p:spPr>
          <a:xfrm>
            <a:off x="1251950" y="1298425"/>
            <a:ext cx="3344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Where the</a:t>
            </a:r>
            <a:r>
              <a:rPr b="1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agentic stack</a:t>
            </a:r>
            <a:r>
              <a:rPr b="0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being built</a:t>
            </a:r>
            <a:r>
              <a:rPr b="0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5" title="image (1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25" y="-199900"/>
            <a:ext cx="4247826" cy="1989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/>
          <p:nvPr/>
        </p:nvSpPr>
        <p:spPr>
          <a:xfrm>
            <a:off x="0" y="826650"/>
            <a:ext cx="9144000" cy="40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6"/>
          <p:cNvSpPr txBox="1"/>
          <p:nvPr>
            <p:ph type="title"/>
          </p:nvPr>
        </p:nvSpPr>
        <p:spPr>
          <a:xfrm>
            <a:off x="229441" y="55168"/>
            <a:ext cx="8389903" cy="800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" type="body"/>
          </p:nvPr>
        </p:nvSpPr>
        <p:spPr>
          <a:xfrm>
            <a:off x="451951" y="1200151"/>
            <a:ext cx="7280107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ACD6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ACD6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CD6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CD6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CD6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6"/>
          <p:cNvSpPr txBox="1"/>
          <p:nvPr/>
        </p:nvSpPr>
        <p:spPr>
          <a:xfrm>
            <a:off x="0" y="4887750"/>
            <a:ext cx="3300600" cy="255600"/>
          </a:xfrm>
          <a:prstGeom prst="rect">
            <a:avLst/>
          </a:prstGeom>
          <a:solidFill>
            <a:srgbClr val="21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Where the</a:t>
            </a:r>
            <a:r>
              <a:rPr b="1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agentic stack</a:t>
            </a:r>
            <a:r>
              <a:rPr b="0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</a:t>
            </a:r>
            <a:r>
              <a:rPr b="1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being built</a:t>
            </a:r>
            <a:r>
              <a:rPr b="0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6" title="AGNTCon-MCPCon-NA-White-Ico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7850" y="-28649"/>
            <a:ext cx="2075200" cy="96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 Layou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56e7514af_0_8"/>
          <p:cNvSpPr txBox="1"/>
          <p:nvPr>
            <p:ph type="title"/>
          </p:nvPr>
        </p:nvSpPr>
        <p:spPr>
          <a:xfrm>
            <a:off x="229441" y="55168"/>
            <a:ext cx="83898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f56e7514af_0_8"/>
          <p:cNvSpPr txBox="1"/>
          <p:nvPr>
            <p:ph idx="1" type="body"/>
          </p:nvPr>
        </p:nvSpPr>
        <p:spPr>
          <a:xfrm>
            <a:off x="451951" y="1200151"/>
            <a:ext cx="7280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f56e7514af_0_8"/>
          <p:cNvSpPr txBox="1"/>
          <p:nvPr/>
        </p:nvSpPr>
        <p:spPr>
          <a:xfrm>
            <a:off x="0" y="4893150"/>
            <a:ext cx="2216700" cy="250500"/>
          </a:xfrm>
          <a:prstGeom prst="rect">
            <a:avLst/>
          </a:prstGeom>
          <a:solidFill>
            <a:srgbClr val="21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#AGNTCon #MCPCon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f56e7514af_0_8"/>
          <p:cNvSpPr txBox="1"/>
          <p:nvPr/>
        </p:nvSpPr>
        <p:spPr>
          <a:xfrm>
            <a:off x="0" y="4887750"/>
            <a:ext cx="3300600" cy="255600"/>
          </a:xfrm>
          <a:prstGeom prst="rect">
            <a:avLst/>
          </a:prstGeom>
          <a:solidFill>
            <a:srgbClr val="212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Where the</a:t>
            </a:r>
            <a:r>
              <a:rPr b="1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agentic stack</a:t>
            </a:r>
            <a:r>
              <a:rPr b="0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being built</a:t>
            </a:r>
            <a:r>
              <a:rPr b="0" i="0" lang="en-C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g3f56e7514af_0_8" title="AGNTCon-MCPCon-NA-White-Ico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7850" y="-28649"/>
            <a:ext cx="2075200" cy="96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 title="image (1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750" y="-57562"/>
            <a:ext cx="5574876" cy="261088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 txBox="1"/>
          <p:nvPr/>
        </p:nvSpPr>
        <p:spPr>
          <a:xfrm>
            <a:off x="596200" y="2199475"/>
            <a:ext cx="67368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CA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Where the</a:t>
            </a:r>
            <a:r>
              <a:rPr b="1" i="0" lang="en-CA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agentic stack</a:t>
            </a:r>
            <a:r>
              <a:rPr b="0" i="0" lang="en-CA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i="0" lang="en-CA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being built</a:t>
            </a:r>
            <a:r>
              <a:rPr b="0" i="0" lang="en-CA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05979"/>
            <a:ext cx="8229600" cy="538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200151"/>
            <a:ext cx="8229600" cy="322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13A"/>
        </a:solidFill>
        <a:effectLst/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4575"/>
            <a:ext cx="9144000" cy="2828925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0"/>
            <a:ext cx="9144000" cy="360045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02920"/>
            <a:ext cx="1920240" cy="8993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4360" y="1828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8F8FC"/>
                </a:solidFill>
                <a:latin typeface="Aptos"/>
              </a:rPr>
              <a:t>SELF-HOSTING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24231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4AC4EF"/>
                </a:solidFill>
                <a:latin typeface="Aptos"/>
              </a:rPr>
              <a:t>From chat stream to verified job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0632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6B9D4"/>
                </a:solidFill>
                <a:latin typeface="Aptos"/>
              </a:rPr>
              <a:t>Post–AI Builder Day revision • web agent + Pedro Tag + local inference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114800"/>
            <a:ext cx="2971800" cy="310896"/>
          </a:xfrm>
          <a:prstGeom prst="roundRect">
            <a:avLst/>
          </a:prstGeom>
          <a:solidFill>
            <a:srgbClr val="EC6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4178808"/>
            <a:ext cx="27523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213A"/>
                </a:solidFill>
                <a:latin typeface="Aptos"/>
              </a:rPr>
              <a:t>AGNTCon + MCPCon North America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13A"/>
        </a:solidFill>
        <a:effectLst/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4575"/>
            <a:ext cx="9144000" cy="2828925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0"/>
            <a:ext cx="9144000" cy="360045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C4EF"/>
                </a:solidFill>
                <a:latin typeface="Aptos"/>
              </a:rPr>
              <a:t>01 / FRAMING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8FC"/>
                </a:solidFill>
                <a:latin typeface="Aptos"/>
              </a:rPr>
              <a:t>A useful agent is a state machine, not a chat bubble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12618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6B9D4"/>
                </a:solidFill>
                <a:latin typeface="Aptos"/>
              </a:rPr>
              <a:t>The audience should be able to see why the job is still running—and why the answer is trustworthy.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1920240"/>
            <a:ext cx="2148840" cy="132588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4AC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206654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AC4EF"/>
                </a:solidFill>
                <a:latin typeface="Aptos"/>
              </a:rPr>
              <a:t>REQUEST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2450592"/>
            <a:ext cx="17830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8FC"/>
                </a:solidFill>
                <a:latin typeface="Aptos"/>
              </a:rPr>
              <a:t>bounded job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360" y="239572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B6B9D4"/>
                </a:solidFill>
                <a:latin typeface="Aptos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29000" y="1920240"/>
            <a:ext cx="2148840" cy="132588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1880" y="206654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7ADE"/>
                </a:solidFill>
                <a:latin typeface="Aptos"/>
              </a:rPr>
              <a:t>PLAN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2450592"/>
            <a:ext cx="17830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8FC"/>
                </a:solidFill>
                <a:latin typeface="Aptos"/>
              </a:rPr>
              <a:t>scoped tools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239572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B6B9D4"/>
                </a:solidFill>
                <a:latin typeface="Aptos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1920240"/>
            <a:ext cx="2148840" cy="132588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EC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206654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699A"/>
                </a:solidFill>
                <a:latin typeface="Aptos"/>
              </a:rPr>
              <a:t>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2450592"/>
            <a:ext cx="17830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8FC"/>
                </a:solidFill>
                <a:latin typeface="Aptos"/>
              </a:rPr>
              <a:t>tool calls + retries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239572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B6B9D4"/>
                </a:solidFill>
                <a:latin typeface="Aptos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06840" y="1920240"/>
            <a:ext cx="2148840" cy="132588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5ED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20" y="206654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DAAA"/>
                </a:solidFill>
                <a:latin typeface="Aptos"/>
              </a:rPr>
              <a:t>VERIFY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2450592"/>
            <a:ext cx="17830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8FC"/>
                </a:solidFill>
                <a:latin typeface="Aptos"/>
              </a:rPr>
              <a:t>machine-check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37490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8FC"/>
                </a:solidFill>
                <a:latin typeface="Aptos"/>
              </a:rPr>
              <a:t>Three responsibilities to keep distinct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4160520"/>
            <a:ext cx="3429000" cy="100584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4AC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430682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AC4EF"/>
                </a:solidFill>
                <a:latin typeface="Aptos"/>
              </a:rPr>
              <a:t>MODEL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4690872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8FC"/>
                </a:solidFill>
                <a:latin typeface="Aptos"/>
              </a:rPr>
              <a:t>Chooses the next action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34840" y="4160520"/>
            <a:ext cx="3429000" cy="100584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17720" y="430682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7ADE"/>
                </a:solidFill>
                <a:latin typeface="Aptos"/>
              </a:rPr>
              <a:t>AGENT LOOP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17720" y="4690872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8FC"/>
                </a:solidFill>
                <a:latin typeface="Aptos"/>
              </a:rPr>
              <a:t>Runs state + tools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0" y="4160520"/>
            <a:ext cx="3429000" cy="100584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EC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430682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699A"/>
                </a:solidFill>
                <a:latin typeface="Aptos"/>
              </a:rPr>
              <a:t>HARNESS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4690872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8FC"/>
                </a:solidFill>
                <a:latin typeface="Aptos"/>
              </a:rPr>
              <a:t>Scopes, retries, compacts, verifies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13A"/>
        </a:solidFill>
        <a:effectLst/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4575"/>
            <a:ext cx="9144000" cy="2828925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0"/>
            <a:ext cx="9144000" cy="360045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C4EF"/>
                </a:solidFill>
                <a:latin typeface="Aptos"/>
              </a:rPr>
              <a:t>02 / BOUNDED DEMO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8FC"/>
                </a:solidFill>
                <a:latin typeface="Aptos"/>
              </a:rPr>
              <a:t>One job, three calls, one checkable answer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12618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6B9D4"/>
                </a:solidFill>
                <a:latin typeface="Aptos"/>
              </a:rPr>
              <a:t>Demo contract: finish with a JSON artifact that a validator can accept or reject.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“Research a local event and produce a verified brief.”</a:t>
            </a:r>
          </a:p>
        </p:txBody>
      </p:sp>
      <p:sp>
        <p:nvSpPr>
          <p:cNvPr id="50" name="Oval 49"/>
          <p:cNvSpPr/>
          <p:nvPr/>
        </p:nvSpPr>
        <p:spPr>
          <a:xfrm>
            <a:off x="685800" y="2606040"/>
            <a:ext cx="438912" cy="438912"/>
          </a:xfrm>
          <a:prstGeom prst="ellipse">
            <a:avLst/>
          </a:prstGeom>
          <a:solidFill>
            <a:srgbClr val="4AC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271576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13A"/>
                </a:solidFill>
                <a:latin typeface="Aptos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32004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8FC"/>
                </a:solidFill>
                <a:latin typeface="Aptos"/>
              </a:rPr>
              <a:t>search_events(query, date)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52728" y="271576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6B9D4"/>
                </a:solidFill>
                <a:latin typeface="Aptos"/>
              </a:rPr>
              <a:t>→</a:t>
            </a:r>
          </a:p>
        </p:txBody>
      </p:sp>
      <p:sp>
        <p:nvSpPr>
          <p:cNvPr id="54" name="Oval 53"/>
          <p:cNvSpPr/>
          <p:nvPr/>
        </p:nvSpPr>
        <p:spPr>
          <a:xfrm>
            <a:off x="2926080" y="2606040"/>
            <a:ext cx="438912" cy="438912"/>
          </a:xfrm>
          <a:prstGeom prst="ellipse">
            <a:avLst/>
          </a:prstGeom>
          <a:solidFill>
            <a:srgbClr val="9B7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26080" y="271576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13A"/>
                </a:solidFill>
                <a:latin typeface="Aptos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60" y="32004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8FC"/>
                </a:solidFill>
                <a:latin typeface="Aptos"/>
              </a:rPr>
              <a:t>fetch_event(url)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93008" y="271576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6B9D4"/>
                </a:solidFill>
                <a:latin typeface="Aptos"/>
              </a:rPr>
              <a:t>→</a:t>
            </a:r>
          </a:p>
        </p:txBody>
      </p:sp>
      <p:sp>
        <p:nvSpPr>
          <p:cNvPr id="58" name="Oval 57"/>
          <p:cNvSpPr/>
          <p:nvPr/>
        </p:nvSpPr>
        <p:spPr>
          <a:xfrm>
            <a:off x="5166360" y="2606040"/>
            <a:ext cx="438912" cy="438912"/>
          </a:xfrm>
          <a:prstGeom prst="ellipse">
            <a:avLst/>
          </a:prstGeom>
          <a:solidFill>
            <a:srgbClr val="EC6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66360" y="271576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13A"/>
                </a:solidFill>
                <a:latin typeface="Aptos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640" y="32004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8FC"/>
                </a:solidFill>
                <a:latin typeface="Aptos"/>
              </a:rPr>
              <a:t>extract_facts(page)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271576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6B9D4"/>
                </a:solidFill>
                <a:latin typeface="Aptos"/>
              </a:rPr>
              <a:t>→</a:t>
            </a:r>
          </a:p>
        </p:txBody>
      </p:sp>
      <p:sp>
        <p:nvSpPr>
          <p:cNvPr id="62" name="Oval 61"/>
          <p:cNvSpPr/>
          <p:nvPr/>
        </p:nvSpPr>
        <p:spPr>
          <a:xfrm>
            <a:off x="7406640" y="2606040"/>
            <a:ext cx="438912" cy="438912"/>
          </a:xfrm>
          <a:prstGeom prst="ellipse">
            <a:avLst/>
          </a:prstGeom>
          <a:solidFill>
            <a:srgbClr val="FF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271576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13A"/>
                </a:solidFill>
                <a:latin typeface="Aptos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32004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8FC"/>
                </a:solidFill>
                <a:latin typeface="Aptos"/>
              </a:rPr>
              <a:t>write_brief(schema)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73568" y="271576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6B9D4"/>
                </a:solidFill>
                <a:latin typeface="Aptos"/>
              </a:rPr>
              <a:t>→</a:t>
            </a:r>
          </a:p>
        </p:txBody>
      </p:sp>
      <p:sp>
        <p:nvSpPr>
          <p:cNvPr id="66" name="Oval 65"/>
          <p:cNvSpPr/>
          <p:nvPr/>
        </p:nvSpPr>
        <p:spPr>
          <a:xfrm>
            <a:off x="9646920" y="2606040"/>
            <a:ext cx="438912" cy="438912"/>
          </a:xfrm>
          <a:prstGeom prst="ellipse">
            <a:avLst/>
          </a:prstGeom>
          <a:solidFill>
            <a:srgbClr val="5ED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46920" y="271576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13A"/>
                </a:solidFill>
                <a:latin typeface="Aptos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0" y="32004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8FC"/>
                </a:solidFill>
                <a:latin typeface="Aptos"/>
              </a:rPr>
              <a:t>verify(brief.json)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800" y="4069080"/>
            <a:ext cx="5349240" cy="96012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5ED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" y="421538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DAAA"/>
                </a:solidFill>
                <a:latin typeface="Aptos"/>
              </a:rPr>
              <a:t>MACHINE-CHECKABLE RESULT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4599432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8FC"/>
                </a:solidFill>
                <a:latin typeface="Aptos"/>
              </a:rPr>
              <a:t>Required fields: title • date • venue • source_url • confidence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09360" y="4069080"/>
            <a:ext cx="5349240" cy="96012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EC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2240" y="421538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699A"/>
                </a:solidFill>
                <a:latin typeface="Aptos"/>
              </a:rPr>
              <a:t>FAILURE IS VISIBLE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4599432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8FC"/>
                </a:solidFill>
                <a:latin typeface="Aptos"/>
              </a:rPr>
              <a:t>Schema error → retry or stop; never silently “stream past”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13A"/>
        </a:solidFill>
        <a:effectLst/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4575"/>
            <a:ext cx="9144000" cy="2828925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0"/>
            <a:ext cx="9144000" cy="360045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C4EF"/>
                </a:solidFill>
                <a:latin typeface="Aptos"/>
              </a:rPr>
              <a:t>03 / WEB UI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8FC"/>
                </a:solidFill>
                <a:latin typeface="Aptos"/>
              </a:rPr>
              <a:t>Make every transition inspectable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12618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6B9D4"/>
                </a:solidFill>
                <a:latin typeface="Aptos"/>
              </a:rPr>
              <a:t>The UI is the demo: state, arguments, results, retries, tokens, and verification stay on screen.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C4EF"/>
                </a:solidFill>
                <a:latin typeface="Aptos"/>
              </a:rPr>
              <a:t>TASK  /  research-event-042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224028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EDAAA"/>
                </a:solidFill>
                <a:latin typeface="Aptos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" y="22402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Aptos"/>
              </a:rPr>
              <a:t>search_events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22402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6B9D4"/>
                </a:solidFill>
                <a:latin typeface="Aptos"/>
              </a:rPr>
              <a:t>{query: “…”}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66360" y="22402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5EDAAA"/>
                </a:solidFill>
                <a:latin typeface="Aptos"/>
              </a:rPr>
              <a:t>2.1k tok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2898648"/>
            <a:ext cx="22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EDAAA"/>
                </a:solidFill>
                <a:latin typeface="Aptos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" y="28986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Aptos"/>
              </a:rPr>
              <a:t>fetch_event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0" y="289864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6B9D4"/>
                </a:solidFill>
                <a:latin typeface="Aptos"/>
              </a:rPr>
              <a:t>{url: “…”}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28986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5EDAAA"/>
                </a:solidFill>
                <a:latin typeface="Aptos"/>
              </a:rPr>
              <a:t>1 retry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3557016"/>
            <a:ext cx="22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AA6E"/>
                </a:solidFill>
                <a:latin typeface="Aptos"/>
              </a:rPr>
              <a:t>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" y="355701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Aptos"/>
              </a:rPr>
              <a:t>extract_facts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0" y="355701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6B9D4"/>
                </a:solidFill>
                <a:latin typeface="Aptos"/>
              </a:rPr>
              <a:t>{page_id: 17}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66360" y="355701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FFAA6E"/>
                </a:solidFill>
                <a:latin typeface="Aptos"/>
              </a:rPr>
              <a:t>3.4k tok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4215384"/>
            <a:ext cx="22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6B9D4"/>
                </a:solidFill>
                <a:latin typeface="Aptos"/>
              </a:rPr>
              <a:t>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" y="421538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Aptos"/>
              </a:rPr>
              <a:t>verify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0" y="421538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6B9D4"/>
                </a:solidFill>
                <a:latin typeface="Aptos"/>
              </a:rPr>
              <a:t>{schema: v1}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66360" y="42153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B6B9D4"/>
                </a:solidFill>
                <a:latin typeface="Aptos"/>
              </a:rPr>
              <a:t>pending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92240" y="1874519"/>
            <a:ext cx="5120640" cy="196596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0" y="202082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7ADE"/>
                </a:solidFill>
                <a:latin typeface="Aptos"/>
              </a:rPr>
              <a:t>TOOL RESULT  /  extract_facts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75120" y="2404871"/>
            <a:ext cx="4754880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8FC"/>
                </a:solidFill>
                <a:latin typeface="Aptos"/>
              </a:rPr>
              <a:t>venue: “…”
date: “…”
source_url: “…”
confidence: 0.92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92240" y="4069080"/>
            <a:ext cx="2423160" cy="96012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4AC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4215384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AC4EF"/>
                </a:solidFill>
                <a:latin typeface="Aptos"/>
              </a:rPr>
              <a:t>TOKENS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5120" y="4599432"/>
            <a:ext cx="2057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8F8FC"/>
                </a:solidFill>
                <a:latin typeface="Aptos"/>
              </a:rPr>
              <a:t>prompt  •  completion  •  total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189720" y="4069080"/>
            <a:ext cx="2423160" cy="96012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5ED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72600" y="4215384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DAAA"/>
                </a:solidFill>
                <a:latin typeface="Aptos"/>
              </a:rPr>
              <a:t>VERIFY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72600" y="4599432"/>
            <a:ext cx="2057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8F8FC"/>
                </a:solidFill>
                <a:latin typeface="Aptos"/>
              </a:rPr>
              <a:t>schema ✓  citations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4575"/>
            <a:ext cx="9144000" cy="28289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360045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C4EF"/>
                </a:solidFill>
                <a:latin typeface="Aptos"/>
              </a:rPr>
              <a:t>04 / DEMO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8FC"/>
                </a:solidFill>
                <a:latin typeface="Aptos"/>
              </a:rPr>
              <a:t>Keep the three proven anchors—and add the missing middle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6B9D4"/>
                </a:solidFill>
                <a:latin typeface="Aptos"/>
              </a:rPr>
              <a:t>The web agent proves orchestration; Discord proves interaction; llama.cpp proves local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383280" cy="192024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4AC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AC4EF"/>
                </a:solidFill>
                <a:latin typeface="Aptos"/>
              </a:rPr>
              <a:t>A. WEB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9152"/>
            <a:ext cx="301752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8FC"/>
                </a:solidFill>
                <a:latin typeface="Aptos"/>
              </a:rPr>
              <a:t>Record full run over Tailscale
→ home RTX 5090
Show: timeline, tools, retries, verify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192024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EC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751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699A"/>
                </a:solidFill>
                <a:latin typeface="Aptos"/>
              </a:rPr>
              <a:t>B. PEDRO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59152"/>
            <a:ext cx="301752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8FC"/>
                </a:solidFill>
                <a:latin typeface="Aptos"/>
              </a:rPr>
              <a:t>Clean Discord agent run
Keep the live demo: it already worked.
Record a deterministic backup.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383280" cy="192024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5ED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751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DAAA"/>
                </a:solidFill>
                <a:latin typeface="Aptos"/>
              </a:rPr>
              <a:t>C. LOCAL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59152"/>
            <a:ext cx="301752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8FC"/>
                </a:solidFill>
                <a:latin typeface="Aptos"/>
              </a:rPr>
              <a:t>llama.cpp output
TTFT • prompt tok/s • gen tok/s
p50/p95 latency • MTP acceptance
Save output in deck directory.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8F8FC"/>
                </a:solidFill>
                <a:latin typeface="Aptos"/>
              </a:rPr>
              <a:t>Run order:  A → B → C  |  12–15 minutes total  |  recorded assets are the safety 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4575"/>
            <a:ext cx="9144000" cy="28289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360045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C4EF"/>
                </a:solidFill>
                <a:latin typeface="Aptos"/>
              </a:rPr>
              <a:t>05 /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8FC"/>
                </a:solidFill>
                <a:latin typeface="Aptos"/>
              </a:rPr>
              <a:t>Show one real CLI trace, then explain the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6B9D4"/>
                </a:solidFill>
                <a:latin typeface="Aptos"/>
              </a:rPr>
              <a:t>The harness is the production-shaped part: it makes the loop observable and safe to operate.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C4EF"/>
                </a:solidFill>
                <a:latin typeface="Aptos"/>
              </a:rPr>
              <a:t>00:00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8308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Aptos"/>
              </a:rPr>
              <a:t>PHASE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78308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6B9D4"/>
                </a:solidFill>
                <a:latin typeface="Aptos"/>
              </a:rPr>
              <a:t>tools = [search_events, fetch_event]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414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7ADE"/>
                </a:solidFill>
                <a:latin typeface="Aptos"/>
              </a:rPr>
              <a:t>00:04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41448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Aptos"/>
              </a:rPr>
              <a:t>CALL search_events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44144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6B9D4"/>
                </a:solidFill>
                <a:latin typeface="Aptos"/>
              </a:rPr>
              <a:t>args={query, date_range}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9981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699A"/>
                </a:solidFill>
                <a:latin typeface="Aptos"/>
              </a:rPr>
              <a:t>00:07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099815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Aptos"/>
              </a:rPr>
              <a:t>RETRY fetch_event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099815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6B9D4"/>
                </a:solidFill>
                <a:latin typeface="Aptos"/>
              </a:rPr>
              <a:t>timeout=2s → backoff=1s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581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AA6E"/>
                </a:solidFill>
                <a:latin typeface="Aptos"/>
              </a:rPr>
              <a:t>00:12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75818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Aptos"/>
              </a:rPr>
              <a:t>COMPACT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758184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6B9D4"/>
                </a:solidFill>
                <a:latin typeface="Aptos"/>
              </a:rPr>
              <a:t>keep facts + citations; drop chatter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165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DAAA"/>
                </a:solidFill>
                <a:latin typeface="Aptos"/>
              </a:rPr>
              <a:t>00:15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41655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Aptos"/>
              </a:rPr>
              <a:t>VERIFY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41655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6B9D4"/>
                </a:solidFill>
                <a:latin typeface="Aptos"/>
              </a:rPr>
              <a:t>brief.json → 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828800"/>
            <a:ext cx="3566160" cy="1874519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EC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9751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699A"/>
                </a:solidFill>
                <a:latin typeface="Aptos"/>
              </a:rPr>
              <a:t>REHEARSAL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59152"/>
            <a:ext cx="320040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F8F8FC"/>
                </a:solidFill>
                <a:latin typeface="Aptos"/>
              </a:rPr>
              <a:t>Model = proposes
Agent loop = decides + executes
Harness = scopes + observes + verifies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977639"/>
            <a:ext cx="3566160" cy="91440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4AC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4123943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AC4EF"/>
                </a:solidFill>
                <a:latin typeface="Aptos"/>
              </a:rPr>
              <a:t>TELEMETRY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507991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8F8FC"/>
                </a:solidFill>
                <a:latin typeface="Aptos"/>
              </a:rPr>
              <a:t>phase • tool • retry • tokens •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4575"/>
            <a:ext cx="9144000" cy="28289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360045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C4EF"/>
                </a:solidFill>
                <a:latin typeface="Aptos"/>
              </a:rPr>
              <a:t>06 /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8FC"/>
                </a:solidFill>
                <a:latin typeface="Aptos"/>
              </a:rPr>
              <a:t>Cost per completed job—not cost per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6B9D4"/>
                </a:solidFill>
                <a:latin typeface="Aptos"/>
              </a:rPr>
              <a:t>Measure the system that actually finishes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8F8FC"/>
                </a:solidFill>
                <a:latin typeface="Aptos"/>
              </a:rPr>
              <a:t>cost / completed job  =  (GPU $/hour × measured GPU seconds ÷ 3600 + infra overhead) ÷ successful completions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3429000" cy="141732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4AC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950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AC4EF"/>
                </a:solidFill>
                <a:latin typeface="Aptos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73552"/>
            <a:ext cx="306324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8FC"/>
                </a:solidFill>
                <a:latin typeface="Aptos"/>
              </a:rPr>
              <a:t>GPU time / run
success / retry counts
tokens +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743200"/>
            <a:ext cx="3429000" cy="141732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88950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7ADE"/>
                </a:solidFill>
                <a:latin typeface="Aptos"/>
              </a:rPr>
              <a:t>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73552"/>
            <a:ext cx="306324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8FC"/>
                </a:solidFill>
                <a:latin typeface="Aptos"/>
              </a:rPr>
              <a:t>Refresh Modal + RunPod
rates immediately before talk
record date + GPU SKU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743200"/>
            <a:ext cx="3429000" cy="141732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EC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288950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699A"/>
                </a:solidFill>
                <a:latin typeface="Aptos"/>
              </a:rPr>
              <a:t>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273552"/>
            <a:ext cx="306324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8FC"/>
                </a:solidFill>
                <a:latin typeface="Aptos"/>
              </a:rPr>
              <a:t>$/successful job
not “model is cheap”
include failed attempts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EDAAA"/>
                </a:solidFill>
                <a:latin typeface="Aptos"/>
              </a:rPr>
              <a:t>Capture fields to fill: GPU SKU ______  $/hr ______  GPU sec/job ______  success rate ______  → $/completed job ______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4575"/>
            <a:ext cx="9144000" cy="28289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360045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C4EF"/>
                </a:solidFill>
                <a:latin typeface="Aptos"/>
              </a:rPr>
              <a:t>07 / RESILIENCE +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F8FC"/>
                </a:solidFill>
                <a:latin typeface="Aptos"/>
              </a:rPr>
              <a:t>If the network fails, the story still lands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B6B9D4"/>
                </a:solidFill>
                <a:latin typeface="Aptos"/>
              </a:rPr>
              <a:t>Every live moment has a saved artifact; optional depth stays out of the critical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94960" cy="219456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5ED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938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DAAA"/>
                </a:solidFill>
                <a:latin typeface="Aptos"/>
              </a:rPr>
              <a:t>FALLBACK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502920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8FC"/>
                </a:solidFill>
                <a:latin typeface="Aptos"/>
              </a:rPr>
              <a:t>✓ recorded multistep web-agent run
✓ recorded Pedro Tag run
✓ screenshot per tool-call transition
✓ screenshot of final verified result
✓ benchmark output saved locally
✓ external video/GIF assets downloaded locally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349240" cy="2194560"/>
          </a:xfrm>
          <a:prstGeom prst="roundRect">
            <a:avLst/>
          </a:prstGeom>
          <a:solidFill>
            <a:srgbClr val="2D2F4E"/>
          </a:solidFill>
          <a:ln w="16510"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9384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7ADE"/>
                </a:solidFill>
                <a:latin typeface="Aptos"/>
              </a:rPr>
              <a:t>OPTIONAL APPENDIX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13432"/>
            <a:ext cx="498348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8F8FC"/>
                </a:solidFill>
                <a:latin typeface="Aptos"/>
              </a:rPr>
              <a:t>LoRAs + Unsloth Studio
CPU control plane + GPU cycling
GPU scheduling details
model-quality discussion
detailed Modal / RunPod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8FC"/>
                </a:solidFill>
                <a:latin typeface="Aptos"/>
              </a:rPr>
              <a:t>Conference-day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B6B9D4"/>
                </a:solidFill>
                <a:latin typeface="Aptos"/>
              </a:rPr>
              <a:t>□ test Tailscale path   □ verify recordings   □ refresh rates   □ rehearse harness explanation   □ confirm deck assets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2015-04-06T18:30:18Z</dcterms:created>
  <dc:creator>Pedro / Soypete</dc:creator>
  <dc:title>Self-Hosting Agents: from chat stream to verified job</dc:title>
  <dc:subject>AGNTCon + MCPCon North America 2026 revision</dc:subject>
</cp:coreProperties>
</file>